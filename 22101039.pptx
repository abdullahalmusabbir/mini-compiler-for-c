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530BE-BBC1-4134-BF7B-DB064EBF962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5A219-26EB-4F96-8973-771C35E92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42e3e7c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42e3e7c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02C1-74F1-4F7E-ABA3-D115A310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10478-52ED-4B37-AF07-F99BDCD3F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5643-2B1B-4687-A571-F06FF04F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4972-AF56-4EC8-8EF5-D7F104DD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860E-0FF9-4F50-8C4D-320F40FD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9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6F22-9645-4FD2-B229-5495BC15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D6326-300E-441B-9052-D959E76AB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EF20A-B85F-45F9-80EC-AA5C33F9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7E3A2-57BA-4C09-8A16-73112388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6AD8-3869-4500-A9CC-AE8A95E3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4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D2B1-32F0-40E7-B25D-48495681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CD6ED-92DF-4B3A-94A9-8AE0CE0C1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D42B7-DEB8-4F0F-BA5B-85D5A229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A99AB-34E9-4942-B2F5-3140EEBC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A46D4-62A5-48ED-9052-1844271A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63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E081-C958-45DF-9DAC-686D2C02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CB78-0F6C-4534-A20A-1B6090F73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C2D87-237B-4683-99FE-864615A14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D8E8A-850D-4D72-9358-875DB1B0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420C5-3043-472F-BA4E-123627FA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1BD02-A285-40C1-81EE-B0502E78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2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DB19-4036-4D37-ACF0-D63F0FD8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C78E3-2AC7-4B8C-899B-2B3CBD07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86EE7-EE0F-451D-8919-F71F7DF95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A43DC-4891-41E6-83DD-4532A7785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C4A25-61A7-4E93-BB88-153CCECC4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CCEC0-2311-462D-AF19-2F2B3E6F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EA3A9-B6F9-44A4-9447-BB7D800F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90612-8AEB-418A-B7F9-5BBC532E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3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8C63-B73F-4E65-8E8A-0D3D1894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C8A701-B5CE-413D-AEC7-C23BFF3C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6AED4-9787-4126-9A70-F188FA3F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22060-540F-4296-BF78-288BB699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0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C9322-C202-4EED-8234-7C66B852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860B1-9BF3-4A3C-BC5B-6A2D327B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DC75A-10AC-4B9C-BA09-BFF63AB1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3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F8A5-DB5E-4B43-80D2-B45B5D4C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9E0B0-1060-41B3-B419-C18C64BD1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A15E-4395-4B6B-BD67-4DBF1E841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0AAA5-F943-4EB4-B449-9C18BF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3B912-7CB9-4F16-A9F2-1416A115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F2D75-5432-410E-91A3-AC5C8806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0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506D-9574-41BC-A70A-3CC20F56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CEDC9-0573-4E4F-AAF1-FE58D8B0C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FBC76-7FEA-4DBF-BC34-4B671F3A7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51BD0-6EB5-41DB-A947-C6AE2502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49CB8-CE8F-4917-A70C-DA43CFED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9C66-AF88-4CAC-A3E7-05BA111E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9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316A-7A1C-4193-974E-3094F756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99DA3-1393-4CA4-A0F1-7A9631DD9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9A70-9621-48B7-AB3C-271EF1F7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49E04-A04B-4C84-8CAC-DFB85ADB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C9EE-C8F0-4826-AC9B-EDEBE26D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8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74673-8F1B-4AA1-8E10-18789E00A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375B7-8D10-4619-92E5-DB79DC5CB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DE14-2B21-4364-9326-110DC9EC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75519-5852-41F1-8910-14F57240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763FC-DEA1-4B30-BFBC-4392790A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9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92D27-9A84-4B20-B84A-765B895A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DBBA-5E6A-4EA2-9E52-607D749EF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E65CD-57E5-442D-9591-0B5608295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1975E-3071-4A5E-9DDD-5C0CF63E433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B185D-83F4-497A-A3CC-A1792CA0A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3954-D2CB-4C36-A154-677634B4F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DE016-7BDB-43EA-B651-272C7C14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3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567" y="874667"/>
            <a:ext cx="1851567" cy="164706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620100" y="2853568"/>
            <a:ext cx="52592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b="1"/>
              <a:t>Course code: CSE 426</a:t>
            </a:r>
            <a:endParaRPr sz="2400" b="1"/>
          </a:p>
          <a:p>
            <a:r>
              <a:rPr lang="en" sz="2400" b="1"/>
              <a:t>Course Title: Compiler Design Lab</a:t>
            </a:r>
            <a:endParaRPr sz="2400" b="1"/>
          </a:p>
          <a:p>
            <a:r>
              <a:rPr lang="en" sz="2400" b="1"/>
              <a:t>Project Name: Mini Compiler Design</a:t>
            </a:r>
            <a:endParaRPr sz="2400" b="1"/>
          </a:p>
        </p:txBody>
      </p:sp>
      <p:sp>
        <p:nvSpPr>
          <p:cNvPr id="88" name="Google Shape;88;p13"/>
          <p:cNvSpPr txBox="1"/>
          <p:nvPr/>
        </p:nvSpPr>
        <p:spPr>
          <a:xfrm>
            <a:off x="7783167" y="4454700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F062C6-BCD1-4C93-9AFC-85DDE75BEC8E}"/>
              </a:ext>
            </a:extLst>
          </p:cNvPr>
          <p:cNvSpPr/>
          <p:nvPr/>
        </p:nvSpPr>
        <p:spPr>
          <a:xfrm>
            <a:off x="1434732" y="4539578"/>
            <a:ext cx="3343835" cy="1366024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A32DA-0E9C-4CFB-A8B5-4746644B8D5B}"/>
              </a:ext>
            </a:extLst>
          </p:cNvPr>
          <p:cNvSpPr txBox="1"/>
          <p:nvPr/>
        </p:nvSpPr>
        <p:spPr>
          <a:xfrm>
            <a:off x="1676779" y="463819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By:</a:t>
            </a:r>
          </a:p>
          <a:p>
            <a:r>
              <a:rPr lang="en-US" dirty="0"/>
              <a:t>Abdullah Al Musabbir</a:t>
            </a:r>
          </a:p>
          <a:p>
            <a:r>
              <a:rPr lang="en-US" dirty="0"/>
              <a:t>Reg No:22101039</a:t>
            </a:r>
          </a:p>
          <a:p>
            <a:r>
              <a:rPr lang="en-US" dirty="0" err="1"/>
              <a:t>Sec:A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D80993-0763-482D-8D46-8BAEF42E626F}"/>
              </a:ext>
            </a:extLst>
          </p:cNvPr>
          <p:cNvSpPr/>
          <p:nvPr/>
        </p:nvSpPr>
        <p:spPr>
          <a:xfrm>
            <a:off x="7171386" y="4539578"/>
            <a:ext cx="3343835" cy="1366024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4635F-75C0-4F24-B362-528D984DBC99}"/>
              </a:ext>
            </a:extLst>
          </p:cNvPr>
          <p:cNvSpPr txBox="1"/>
          <p:nvPr/>
        </p:nvSpPr>
        <p:spPr>
          <a:xfrm>
            <a:off x="7413433" y="463819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To:</a:t>
            </a:r>
          </a:p>
          <a:p>
            <a:r>
              <a:rPr lang="en-US" dirty="0"/>
              <a:t>Md. </a:t>
            </a:r>
            <a:r>
              <a:rPr lang="en-US" dirty="0" err="1"/>
              <a:t>Shafayatul</a:t>
            </a:r>
            <a:r>
              <a:rPr lang="en-US" dirty="0"/>
              <a:t> Haque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Department od CSE, UAP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5A548F-6C5B-4179-B879-1F38E0A1045A}"/>
              </a:ext>
            </a:extLst>
          </p:cNvPr>
          <p:cNvSpPr/>
          <p:nvPr/>
        </p:nvSpPr>
        <p:spPr>
          <a:xfrm>
            <a:off x="376519" y="2014415"/>
            <a:ext cx="5853952" cy="926009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C3EB1-43BC-416E-9E36-5D794EEE29E2}"/>
              </a:ext>
            </a:extLst>
          </p:cNvPr>
          <p:cNvSpPr txBox="1"/>
          <p:nvPr/>
        </p:nvSpPr>
        <p:spPr>
          <a:xfrm>
            <a:off x="1461247" y="699247"/>
            <a:ext cx="3585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What is a Compiler?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4237E306-B20B-4B1B-825C-7E162F39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412" y="2014415"/>
            <a:ext cx="4992669" cy="2829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B1ABC-79A9-4134-A42F-7E20710CE960}"/>
              </a:ext>
            </a:extLst>
          </p:cNvPr>
          <p:cNvSpPr txBox="1"/>
          <p:nvPr/>
        </p:nvSpPr>
        <p:spPr>
          <a:xfrm>
            <a:off x="636494" y="2124635"/>
            <a:ext cx="539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Lexical Analysis</a:t>
            </a:r>
          </a:p>
          <a:p>
            <a:r>
              <a:rPr lang="en-US" dirty="0"/>
              <a:t>Tokenizes source text into meaningful symbols.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8E3BC2-26E2-4327-94FD-50CE913F134F}"/>
              </a:ext>
            </a:extLst>
          </p:cNvPr>
          <p:cNvSpPr/>
          <p:nvPr/>
        </p:nvSpPr>
        <p:spPr>
          <a:xfrm>
            <a:off x="376519" y="3050644"/>
            <a:ext cx="5853952" cy="926009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EED15-C2E3-4DB2-8679-129419F6ADC8}"/>
              </a:ext>
            </a:extLst>
          </p:cNvPr>
          <p:cNvSpPr txBox="1"/>
          <p:nvPr/>
        </p:nvSpPr>
        <p:spPr>
          <a:xfrm>
            <a:off x="636494" y="3242494"/>
            <a:ext cx="5396753" cy="48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Syntax Analysis</a:t>
            </a:r>
          </a:p>
          <a:p>
            <a:pPr>
              <a:lnSpc>
                <a:spcPts val="1500"/>
              </a:lnSpc>
            </a:pPr>
            <a:r>
              <a:rPr lang="en-US" dirty="0"/>
              <a:t>Parses tokens into grammatical structure (AST).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828304-98E1-48AE-98D1-791B4AD63625}"/>
              </a:ext>
            </a:extLst>
          </p:cNvPr>
          <p:cNvSpPr/>
          <p:nvPr/>
        </p:nvSpPr>
        <p:spPr>
          <a:xfrm>
            <a:off x="376519" y="4086873"/>
            <a:ext cx="5853952" cy="926009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6266E-CC0F-46DB-9BFE-0326637C0698}"/>
              </a:ext>
            </a:extLst>
          </p:cNvPr>
          <p:cNvSpPr txBox="1"/>
          <p:nvPr/>
        </p:nvSpPr>
        <p:spPr>
          <a:xfrm>
            <a:off x="636494" y="4278723"/>
            <a:ext cx="5396753" cy="48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Semantic Analysis</a:t>
            </a:r>
          </a:p>
          <a:p>
            <a:pPr>
              <a:lnSpc>
                <a:spcPts val="1500"/>
              </a:lnSpc>
            </a:pPr>
            <a:r>
              <a:rPr lang="en-US" dirty="0"/>
              <a:t>Checks types, scopes, and symbol consistency.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BDF9D6-9B7B-4540-8975-FD2757316770}"/>
              </a:ext>
            </a:extLst>
          </p:cNvPr>
          <p:cNvSpPr/>
          <p:nvPr/>
        </p:nvSpPr>
        <p:spPr>
          <a:xfrm>
            <a:off x="376519" y="5204732"/>
            <a:ext cx="5853952" cy="926009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AD386-AC71-401A-B632-9943AC88190B}"/>
              </a:ext>
            </a:extLst>
          </p:cNvPr>
          <p:cNvSpPr txBox="1"/>
          <p:nvPr/>
        </p:nvSpPr>
        <p:spPr>
          <a:xfrm>
            <a:off x="636494" y="5396582"/>
            <a:ext cx="5396753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Code Generation</a:t>
            </a:r>
          </a:p>
          <a:p>
            <a:pPr>
              <a:lnSpc>
                <a:spcPts val="1500"/>
              </a:lnSpc>
            </a:pPr>
            <a:r>
              <a:rPr lang="en-US" sz="1600" dirty="0"/>
              <a:t>Produces intermediate code (TAC) for later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00377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>
            <a:extLst>
              <a:ext uri="{FF2B5EF4-FFF2-40B4-BE49-F238E27FC236}">
                <a16:creationId xmlns:a16="http://schemas.microsoft.com/office/drawing/2014/main" id="{EE27910A-262C-4E81-B5CE-79CB00D4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482" y="1939006"/>
            <a:ext cx="5258885" cy="2979988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49E64A8-6E3E-4F67-AA34-B1869309F140}"/>
              </a:ext>
            </a:extLst>
          </p:cNvPr>
          <p:cNvSpPr/>
          <p:nvPr/>
        </p:nvSpPr>
        <p:spPr>
          <a:xfrm>
            <a:off x="1873542" y="1498996"/>
            <a:ext cx="235008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450"/>
              </a:lnSpc>
              <a:buNone/>
            </a:pPr>
            <a:r>
              <a:rPr lang="en-US" dirty="0"/>
              <a:t>Project Objectives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036669-35B4-4261-9908-89B56BD10463}"/>
              </a:ext>
            </a:extLst>
          </p:cNvPr>
          <p:cNvSpPr/>
          <p:nvPr/>
        </p:nvSpPr>
        <p:spPr>
          <a:xfrm>
            <a:off x="775786" y="2681404"/>
            <a:ext cx="2953532" cy="3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00"/>
              </a:lnSpc>
              <a:buNone/>
            </a:pPr>
            <a:r>
              <a:rPr lang="en-US" sz="2000" b="1" dirty="0"/>
              <a:t>Understand Compiler Design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92A1ADA-39F5-4E44-A5CE-C9C2E80760E7}"/>
              </a:ext>
            </a:extLst>
          </p:cNvPr>
          <p:cNvSpPr/>
          <p:nvPr/>
        </p:nvSpPr>
        <p:spPr>
          <a:xfrm>
            <a:off x="775786" y="2920311"/>
            <a:ext cx="532021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0"/>
              </a:lnSpc>
              <a:buNone/>
            </a:pPr>
            <a:r>
              <a:rPr lang="en-US" dirty="0"/>
              <a:t>Implement lexical analysis, parsing, symbol table, AST, TAC, and error detection.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DDD50FE-AD61-448E-9E4D-E88A3CBB49D3}"/>
              </a:ext>
            </a:extLst>
          </p:cNvPr>
          <p:cNvSpPr/>
          <p:nvPr/>
        </p:nvSpPr>
        <p:spPr>
          <a:xfrm>
            <a:off x="775786" y="383994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00"/>
              </a:lnSpc>
              <a:buNone/>
            </a:pPr>
            <a:r>
              <a:rPr lang="en-US" sz="2000" b="1" dirty="0"/>
              <a:t>Error Detection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F3DD26E-9F92-4F61-96FB-D501135B3A80}"/>
              </a:ext>
            </a:extLst>
          </p:cNvPr>
          <p:cNvSpPr/>
          <p:nvPr/>
        </p:nvSpPr>
        <p:spPr>
          <a:xfrm>
            <a:off x="775785" y="4172945"/>
            <a:ext cx="514988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0"/>
              </a:lnSpc>
              <a:buNone/>
            </a:pPr>
            <a:r>
              <a:rPr lang="en-US" dirty="0"/>
              <a:t>Detect syntax and semantic errors with line numbers and warnings.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330FEF-878C-4ACB-BD04-7C54F27B846E}"/>
              </a:ext>
            </a:extLst>
          </p:cNvPr>
          <p:cNvSpPr/>
          <p:nvPr/>
        </p:nvSpPr>
        <p:spPr>
          <a:xfrm>
            <a:off x="361961" y="2475235"/>
            <a:ext cx="5853952" cy="1101684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2A1EA2-497D-45C9-80C9-12ECBC3D661D}"/>
              </a:ext>
            </a:extLst>
          </p:cNvPr>
          <p:cNvSpPr/>
          <p:nvPr/>
        </p:nvSpPr>
        <p:spPr>
          <a:xfrm>
            <a:off x="361961" y="3694188"/>
            <a:ext cx="5853952" cy="1101684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5FD4E2-3E2D-4612-A3CC-58D1592D3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4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C5BB5E-74F7-4C05-8058-BA52C3C8B186}"/>
              </a:ext>
            </a:extLst>
          </p:cNvPr>
          <p:cNvSpPr/>
          <p:nvPr/>
        </p:nvSpPr>
        <p:spPr>
          <a:xfrm>
            <a:off x="2845185" y="386459"/>
            <a:ext cx="5853952" cy="958247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98412-3699-4614-B731-37E6EC09C6A8}"/>
              </a:ext>
            </a:extLst>
          </p:cNvPr>
          <p:cNvSpPr txBox="1"/>
          <p:nvPr/>
        </p:nvSpPr>
        <p:spPr>
          <a:xfrm>
            <a:off x="3091714" y="680916"/>
            <a:ext cx="536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Technology &amp; Project 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12B845-AF9A-43CC-A239-98EA909F4F8A}"/>
              </a:ext>
            </a:extLst>
          </p:cNvPr>
          <p:cNvSpPr/>
          <p:nvPr/>
        </p:nvSpPr>
        <p:spPr>
          <a:xfrm>
            <a:off x="367553" y="2170433"/>
            <a:ext cx="3492862" cy="2688435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0532B3-9917-4056-ACC3-879CD3E516A0}"/>
              </a:ext>
            </a:extLst>
          </p:cNvPr>
          <p:cNvSpPr/>
          <p:nvPr/>
        </p:nvSpPr>
        <p:spPr>
          <a:xfrm>
            <a:off x="4349569" y="2170434"/>
            <a:ext cx="3492862" cy="2688435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181485-6FE4-4BCF-996F-96BA407925DD}"/>
              </a:ext>
            </a:extLst>
          </p:cNvPr>
          <p:cNvSpPr/>
          <p:nvPr/>
        </p:nvSpPr>
        <p:spPr>
          <a:xfrm>
            <a:off x="8331585" y="2170435"/>
            <a:ext cx="3492862" cy="2688435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4428E-7A0F-4F1D-85D1-4ED63563EAB5}"/>
              </a:ext>
            </a:extLst>
          </p:cNvPr>
          <p:cNvSpPr txBox="1"/>
          <p:nvPr/>
        </p:nvSpPr>
        <p:spPr>
          <a:xfrm>
            <a:off x="502024" y="2339788"/>
            <a:ext cx="31824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</a:t>
            </a:r>
          </a:p>
          <a:p>
            <a:pPr marL="342900" indent="-342900">
              <a:buAutoNum type="arabicPeriod"/>
            </a:pPr>
            <a:r>
              <a:rPr lang="en-US" dirty="0"/>
              <a:t>Flex</a:t>
            </a:r>
          </a:p>
          <a:p>
            <a:pPr marL="342900" indent="-342900">
              <a:buAutoNum type="arabicPeriod"/>
            </a:pPr>
            <a:r>
              <a:rPr lang="en-US" dirty="0"/>
              <a:t>Bison</a:t>
            </a:r>
          </a:p>
          <a:p>
            <a:pPr marL="342900" indent="-342900">
              <a:buAutoNum type="arabicPeriod"/>
            </a:pPr>
            <a:r>
              <a:rPr lang="en-US" dirty="0"/>
              <a:t>GCC</a:t>
            </a:r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95488-9F15-4F44-87B4-5759C9F40F68}"/>
              </a:ext>
            </a:extLst>
          </p:cNvPr>
          <p:cNvSpPr txBox="1"/>
          <p:nvPr/>
        </p:nvSpPr>
        <p:spPr>
          <a:xfrm>
            <a:off x="4504765" y="2339788"/>
            <a:ext cx="31824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Files</a:t>
            </a:r>
          </a:p>
          <a:p>
            <a:pPr marL="342900" indent="-342900">
              <a:buAutoNum type="arabicPeriod"/>
            </a:pPr>
            <a:r>
              <a:rPr lang="en-US" dirty="0" err="1"/>
              <a:t>Lexer.l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Parser.y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Compiler.h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 err="1"/>
              <a:t>Main.c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Test.c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A93BF-2890-46D6-9020-EDFDCE4CAFEC}"/>
              </a:ext>
            </a:extLst>
          </p:cNvPr>
          <p:cNvSpPr txBox="1"/>
          <p:nvPr/>
        </p:nvSpPr>
        <p:spPr>
          <a:xfrm>
            <a:off x="8452608" y="2339788"/>
            <a:ext cx="318247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 to compile and run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bison -d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parser.y</a:t>
            </a:r>
            <a:endParaRPr lang="en" sz="1400" dirty="0">
              <a:solidFill>
                <a:schemeClr val="bg2">
                  <a:lumMod val="10000"/>
                </a:schemeClr>
              </a:solidFill>
              <a:latin typeface="Arial"/>
              <a:cs typeface="Arial"/>
              <a:sym typeface="Arial"/>
            </a:endParaRP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flex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lexer.l</a:t>
            </a:r>
            <a:endParaRPr lang="en" sz="1400" dirty="0">
              <a:solidFill>
                <a:schemeClr val="bg2">
                  <a:lumMod val="10000"/>
                </a:schemeClr>
              </a:solidFill>
              <a:latin typeface="Arial"/>
              <a:cs typeface="Arial"/>
              <a:sym typeface="Arial"/>
            </a:endParaRPr>
          </a:p>
          <a:p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gcc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-w -o compiler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lex.yy.c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parser.tab.c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main.c</a:t>
            </a:r>
            <a:endParaRPr lang="en" sz="1400" dirty="0">
              <a:solidFill>
                <a:schemeClr val="bg2">
                  <a:lumMod val="10000"/>
                </a:schemeClr>
              </a:solidFill>
              <a:latin typeface="Arial"/>
              <a:cs typeface="Arial"/>
              <a:sym typeface="Arial"/>
            </a:endParaRP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./compiler</a:t>
            </a:r>
          </a:p>
        </p:txBody>
      </p:sp>
    </p:spTree>
    <p:extLst>
      <p:ext uri="{BB962C8B-B14F-4D97-AF65-F5344CB8AC3E}">
        <p14:creationId xmlns:p14="http://schemas.microsoft.com/office/powerpoint/2010/main" val="140087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284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1 - Lexical Analysis (Tokenization)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Token structure to recognize keywords (int, float, if, else, while, return), operators (+, -, </a:t>
            </a:r>
            <a:r>
              <a:rPr lang="en-US" sz="1400" b="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/, =, &lt;, &gt;, &lt;=, &gt;=, ==, !=), identifiers, numbers, and comments (single-line // and multi-line /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*/)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111245-9E6C-43A3-96D9-5D38B5E4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71" y="896470"/>
            <a:ext cx="4170472" cy="582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3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2926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2 - </a:t>
            </a:r>
            <a:r>
              <a:rPr lang="en" sz="3200" dirty="0">
                <a:latin typeface="Lato"/>
                <a:ea typeface="Lato"/>
                <a:cs typeface="Lato"/>
                <a:sym typeface="Lato"/>
              </a:rPr>
              <a:t>Symbol Table Creation </a:t>
            </a: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Symbol table (hash table or array) for variable tracking, type information struct, scope management stack for checking variable declarations, type compatibility, and semantic errors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8C5E36-0E0E-4E9E-9764-D9D363CC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71" y="1924478"/>
            <a:ext cx="5411423" cy="30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0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3174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3 - </a:t>
            </a:r>
            <a:r>
              <a:rPr lang="en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Semantic/Syntax Analysis</a:t>
            </a:r>
            <a:endParaRPr lang="en" sz="32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Bison,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Symbol table (array-based) storing variable names, types, line numbers, and function flags; duplicate error tracking array to prevent repeated error messages</a:t>
            </a:r>
            <a:b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Semantic, syntax Checks Performed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FD75A-5439-47E3-8348-474F9CD2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17" y="836371"/>
            <a:ext cx="4772409" cy="657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5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2678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4 - </a:t>
            </a:r>
            <a:r>
              <a:rPr lang="en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 Syntax Tree (AST) Generation</a:t>
            </a:r>
            <a:endParaRPr lang="en" sz="32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Bison,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 node structure with node type, children pointers, expression trees for arithmetic operations, statement nodes for assignments and control flow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4529A-4704-4C37-BD35-81F32720F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66" y="851647"/>
            <a:ext cx="395668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5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2926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5 - </a:t>
            </a:r>
            <a:r>
              <a:rPr lang="en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Intermediate Code Generation (TAC)</a:t>
            </a:r>
            <a:endParaRPr lang="en" sz="32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Bison,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Quadruple structure (op, arg1, arg2, result) for Three-Address Code, temporary variable counter, label generator for control flow (if-else, while loops), backpatching stack for label resolution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2829D-E9AE-47F4-99C2-4D3AB9A31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365" y="851647"/>
            <a:ext cx="4554070" cy="584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399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6 - </a:t>
            </a:r>
            <a:r>
              <a:rPr lang="en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Optimization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Bison,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information table for constant tracking, optimization flags (</a:t>
            </a:r>
            <a:r>
              <a:rPr lang="en-US" sz="14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is_const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is_used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is_dead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TAC instruction array with dead code markers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 Techniques Implemented:</a:t>
            </a:r>
          </a:p>
          <a:p>
            <a:pPr marL="457200" lvl="0" indent="-2914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Propagation</a:t>
            </a: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Folding (multi-pass)</a:t>
            </a: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 Code Elimination</a:t>
            </a: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Unreachable Code Elimination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E1782-1114-40DE-8DF4-11AA6F7EC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193" y="959223"/>
            <a:ext cx="3863630" cy="561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9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744189-8EFD-4E48-85D6-DAAD1938DC16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B6ED-0660-4FCC-84D4-3AB0E74404EC}"/>
              </a:ext>
            </a:extLst>
          </p:cNvPr>
          <p:cNvSpPr txBox="1"/>
          <p:nvPr/>
        </p:nvSpPr>
        <p:spPr>
          <a:xfrm>
            <a:off x="439271" y="1443318"/>
            <a:ext cx="5011270" cy="4159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7 - </a:t>
            </a:r>
            <a:r>
              <a:rPr lang="en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Code Generation (ARM Assembly)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Bison, Flex (Lex) and GCC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used: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</a:t>
            </a:r>
            <a:r>
              <a:rPr lang="en-US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Register allocation table mapping variables to ARM registers (R0-R15), instruction templates for ARM assembly, label tracking for control flow translation</a:t>
            </a:r>
            <a:b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Architecture: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ARM (32-bit)</a:t>
            </a:r>
            <a:b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Instructions Generated:</a:t>
            </a:r>
            <a:r>
              <a:rPr lang="en" sz="14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MOV, ADD, SUB, MUL, SDIV, CMP, B (branch), conditional moves (MOVGE, MOVLT, etc.), SWI (system call)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6DD06-199E-4C94-B15C-135B9F4B7500}"/>
              </a:ext>
            </a:extLst>
          </p:cNvPr>
          <p:cNvSpPr txBox="1"/>
          <p:nvPr/>
        </p:nvSpPr>
        <p:spPr>
          <a:xfrm>
            <a:off x="8453719" y="286871"/>
            <a:ext cx="11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E1782-1114-40DE-8DF4-11AA6F7EC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193" y="959223"/>
            <a:ext cx="3863630" cy="561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6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AA4999-C6E2-4029-9BAA-2782697F6FE8}"/>
              </a:ext>
            </a:extLst>
          </p:cNvPr>
          <p:cNvSpPr/>
          <p:nvPr/>
        </p:nvSpPr>
        <p:spPr>
          <a:xfrm>
            <a:off x="3078267" y="1345683"/>
            <a:ext cx="5853952" cy="958247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6E37C-4BE1-417B-B892-5796519D9518}"/>
              </a:ext>
            </a:extLst>
          </p:cNvPr>
          <p:cNvSpPr txBox="1"/>
          <p:nvPr/>
        </p:nvSpPr>
        <p:spPr>
          <a:xfrm>
            <a:off x="5171525" y="1640140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0" dirty="0">
                <a:solidFill>
                  <a:srgbClr val="1A1A1A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Conclusion</a:t>
            </a: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F7289-5544-4DCB-BD85-D6379F8B00D6}"/>
              </a:ext>
            </a:extLst>
          </p:cNvPr>
          <p:cNvSpPr txBox="1"/>
          <p:nvPr/>
        </p:nvSpPr>
        <p:spPr>
          <a:xfrm>
            <a:off x="990599" y="3039035"/>
            <a:ext cx="99149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successful development of this complete compiler from scratch demonstrates mastery of compiler design principles and optimization algorithms, proving that high-level source code can be efficiently translated into optimized machine code. This project provides valuable insights into how modern compilers work and lays a foundation for future enhancements in code generation and optimization.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92D935-28B3-4330-B3DD-9F5C7596DE02}"/>
              </a:ext>
            </a:extLst>
          </p:cNvPr>
          <p:cNvSpPr/>
          <p:nvPr/>
        </p:nvSpPr>
        <p:spPr>
          <a:xfrm>
            <a:off x="865094" y="2744577"/>
            <a:ext cx="10461811" cy="1881211"/>
          </a:xfrm>
          <a:prstGeom prst="roundRect">
            <a:avLst>
              <a:gd name="adj" fmla="val 1010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8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767</Words>
  <Application>Microsoft Office PowerPoint</Application>
  <PresentationFormat>Widescreen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abdullah musabbir</dc:creator>
  <cp:lastModifiedBy>abdullah musabbir</cp:lastModifiedBy>
  <cp:revision>1</cp:revision>
  <dcterms:created xsi:type="dcterms:W3CDTF">2026-05-15T06:01:19Z</dcterms:created>
  <dcterms:modified xsi:type="dcterms:W3CDTF">2026-05-15T06:30:14Z</dcterms:modified>
</cp:coreProperties>
</file>