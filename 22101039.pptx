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70" r:id="rId4"/>
    <p:sldId id="271" r:id="rId5"/>
    <p:sldId id="259" r:id="rId6"/>
    <p:sldId id="26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2" r:id="rId16"/>
    <p:sldId id="2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A530BE-BBC1-4134-BF7B-DB064EBF962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85A219-26EB-4F96-8973-771C35E927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1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42e3e7cd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742e3e7cd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02C1-74F1-4F7E-ABA3-D115A31093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D10478-52ED-4B37-AF07-F99BDCD3FB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45643-2B1B-4687-A571-F06FF04F0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14972-AF56-4EC8-8EF5-D7F104DD6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7860E-0FF9-4F50-8C4D-320F40FD8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995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A6F22-9645-4FD2-B229-5495BC154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D6326-300E-441B-9052-D959E76A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3EF20A-B85F-45F9-80EC-AA5C33F91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7E3A2-57BA-4C09-8A16-73112388E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16AD8-3869-4500-A9CC-AE8A95E38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546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ED2B1-32F0-40E7-B25D-48495681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CCD6ED-92DF-4B3A-94A9-8AE0CE0C1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D42B7-DEB8-4F0F-BA5B-85D5A22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A99AB-34E9-4942-B2F5-3140EEBC0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A46D4-62A5-48ED-9052-1844271A9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163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CE081-C958-45DF-9DAC-686D2C028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6CB78-0F6C-4534-A20A-1B6090F738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6C2D87-237B-4683-99FE-864615A14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D8E8A-850D-4D72-9358-875DB1B06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D420C5-3043-472F-BA4E-123627FA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91BD02-A285-40C1-81EE-B0502E780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126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1DB19-4036-4D37-ACF0-D63F0FD8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C78E3-2AC7-4B8C-899B-2B3CBD07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86EE7-EE0F-451D-8919-F71F7DF95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4A43DC-4891-41E6-83DD-4532A7785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4C4A25-61A7-4E93-BB88-153CCECC40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3CCEC0-2311-462D-AF19-2F2B3E6FE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EA3A9-B6F9-44A4-9447-BB7D800F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790612-8AEB-418A-B7F9-5BBC532E7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93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88C63-B73F-4E65-8E8A-0D3D1894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C8A701-B5CE-413D-AEC7-C23BFF3CE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A6AED4-9787-4126-9A70-F188FA3F1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A22060-540F-4296-BF78-288BB699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0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C9322-C202-4EED-8234-7C66B8525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7860B1-9BF3-4A3C-BC5B-6A2D327B3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C75A-10AC-4B9C-BA09-BFF63AB1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36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5F8A5-DB5E-4B43-80D2-B45B5D4C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9E0B0-1060-41B3-B419-C18C64BD1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A15E-4395-4B6B-BD67-4DBF1E841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0AAA5-F943-4EB4-B449-9C18BF06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3B912-7CB9-4F16-A9F2-1416A1157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F2D75-5432-410E-91A3-AC5C8806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06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9506D-9574-41BC-A70A-3CC20F563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ECEDC9-0573-4E4F-AAF1-FE58D8B0C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0FBC76-7FEA-4DBF-BC34-4B671F3A77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D51BD0-6EB5-41DB-A947-C6AE2502C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549CB8-CE8F-4917-A70C-DA43CFED9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F9C66-AF88-4CAC-A3E7-05BA111EE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99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E316A-7A1C-4193-974E-3094F756D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99DA3-1393-4CA4-A0F1-7A9631DD9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59A70-9621-48B7-AB3C-271EF1F71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49E04-A04B-4C84-8CAC-DFB85ADB6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AC9EE-C8F0-4826-AC9B-EDEBE26D9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983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E74673-8F1B-4AA1-8E10-18789E00A2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1375B7-8D10-4619-92E5-DB79DC5CB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DDE14-2B21-4364-9326-110DC9EC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75519-5852-41F1-8910-14F572400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763FC-DEA1-4B30-BFBC-4392790A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593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192D27-9A84-4B20-B84A-765B895A8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DBBA-5E6A-4EA2-9E52-607D749EF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E65CD-57E5-442D-9591-0B5608295C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E1975E-3071-4A5E-9DDD-5C0CF63E433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B185D-83F4-497A-A3CC-A1792CA0AB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B83954-D2CB-4C36-A154-677634B4F9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39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8567" y="874667"/>
            <a:ext cx="1851567" cy="164706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3620100" y="2853568"/>
            <a:ext cx="5259200" cy="135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 b="1"/>
              <a:t>Course code: CSE 426</a:t>
            </a:r>
            <a:endParaRPr sz="2400" b="1"/>
          </a:p>
          <a:p>
            <a:r>
              <a:rPr lang="en" sz="2400" b="1"/>
              <a:t>Course Title: Compiler Design Lab</a:t>
            </a:r>
            <a:endParaRPr sz="2400" b="1"/>
          </a:p>
          <a:p>
            <a:r>
              <a:rPr lang="en" sz="2400" b="1"/>
              <a:t>Project Name: Mini Compiler Design</a:t>
            </a:r>
            <a:endParaRPr sz="2400" b="1"/>
          </a:p>
        </p:txBody>
      </p:sp>
      <p:sp>
        <p:nvSpPr>
          <p:cNvPr id="88" name="Google Shape;88;p13"/>
          <p:cNvSpPr txBox="1"/>
          <p:nvPr/>
        </p:nvSpPr>
        <p:spPr>
          <a:xfrm>
            <a:off x="7783167" y="4454700"/>
            <a:ext cx="40000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endParaRPr sz="240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F062C6-BCD1-4C93-9AFC-85DDE75BEC8E}"/>
              </a:ext>
            </a:extLst>
          </p:cNvPr>
          <p:cNvSpPr/>
          <p:nvPr/>
        </p:nvSpPr>
        <p:spPr>
          <a:xfrm>
            <a:off x="1434732" y="4539578"/>
            <a:ext cx="3343835" cy="136602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CA32DA-0E9C-4CFB-A8B5-4746644B8D5B}"/>
              </a:ext>
            </a:extLst>
          </p:cNvPr>
          <p:cNvSpPr txBox="1"/>
          <p:nvPr/>
        </p:nvSpPr>
        <p:spPr>
          <a:xfrm>
            <a:off x="1676779" y="4638190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Submitted By:</a:t>
            </a:r>
          </a:p>
          <a:p>
            <a:r>
              <a:rPr lang="en-US" dirty="0"/>
              <a:t>Abdullah Al Musabbir</a:t>
            </a:r>
          </a:p>
          <a:p>
            <a:r>
              <a:rPr lang="en-US" dirty="0"/>
              <a:t>Reg No:22101039</a:t>
            </a:r>
          </a:p>
          <a:p>
            <a:r>
              <a:rPr lang="en-US" dirty="0" err="1"/>
              <a:t>Sec:A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D80993-0763-482D-8D46-8BAEF42E626F}"/>
              </a:ext>
            </a:extLst>
          </p:cNvPr>
          <p:cNvSpPr/>
          <p:nvPr/>
        </p:nvSpPr>
        <p:spPr>
          <a:xfrm>
            <a:off x="7171386" y="4539578"/>
            <a:ext cx="3343835" cy="136602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84635F-75C0-4F24-B362-528D984DBC99}"/>
              </a:ext>
            </a:extLst>
          </p:cNvPr>
          <p:cNvSpPr txBox="1"/>
          <p:nvPr/>
        </p:nvSpPr>
        <p:spPr>
          <a:xfrm>
            <a:off x="7413433" y="4638190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Submitted To:</a:t>
            </a:r>
          </a:p>
          <a:p>
            <a:r>
              <a:rPr lang="en-US" dirty="0"/>
              <a:t>Md. </a:t>
            </a:r>
            <a:r>
              <a:rPr lang="en-US" dirty="0" err="1"/>
              <a:t>Shafayatul</a:t>
            </a:r>
            <a:r>
              <a:rPr lang="en-US" dirty="0"/>
              <a:t> Haque</a:t>
            </a:r>
          </a:p>
          <a:p>
            <a:r>
              <a:rPr lang="en-US" dirty="0"/>
              <a:t>Lecturer</a:t>
            </a:r>
          </a:p>
          <a:p>
            <a:r>
              <a:rPr lang="en-US" dirty="0"/>
              <a:t>Department od CSE, UAP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5A548F-6C5B-4179-B879-1F38E0A1045A}"/>
              </a:ext>
            </a:extLst>
          </p:cNvPr>
          <p:cNvSpPr/>
          <p:nvPr/>
        </p:nvSpPr>
        <p:spPr>
          <a:xfrm>
            <a:off x="376519" y="2014415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C3EB1-43BC-416E-9E36-5D794EEE29E2}"/>
              </a:ext>
            </a:extLst>
          </p:cNvPr>
          <p:cNvSpPr txBox="1"/>
          <p:nvPr/>
        </p:nvSpPr>
        <p:spPr>
          <a:xfrm>
            <a:off x="1461247" y="699247"/>
            <a:ext cx="3585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What is a Compiler?</a:t>
            </a:r>
          </a:p>
        </p:txBody>
      </p:sp>
      <p:pic>
        <p:nvPicPr>
          <p:cNvPr id="6" name="Image 0">
            <a:extLst>
              <a:ext uri="{FF2B5EF4-FFF2-40B4-BE49-F238E27FC236}">
                <a16:creationId xmlns:a16="http://schemas.microsoft.com/office/drawing/2014/main" id="{4237E306-B20B-4B1B-825C-7E162F393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412" y="2014415"/>
            <a:ext cx="4992669" cy="28291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0B1ABC-79A9-4134-A42F-7E20710CE960}"/>
              </a:ext>
            </a:extLst>
          </p:cNvPr>
          <p:cNvSpPr txBox="1"/>
          <p:nvPr/>
        </p:nvSpPr>
        <p:spPr>
          <a:xfrm>
            <a:off x="636494" y="2124635"/>
            <a:ext cx="539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Lexical Analysis</a:t>
            </a:r>
          </a:p>
          <a:p>
            <a:r>
              <a:rPr lang="en-US" dirty="0"/>
              <a:t>Tokenizes source text into meaningful symbols.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8E3BC2-26E2-4327-94FD-50CE913F134F}"/>
              </a:ext>
            </a:extLst>
          </p:cNvPr>
          <p:cNvSpPr/>
          <p:nvPr/>
        </p:nvSpPr>
        <p:spPr>
          <a:xfrm>
            <a:off x="376519" y="3050644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EEED15-C2E3-4DB2-8679-129419F6ADC8}"/>
              </a:ext>
            </a:extLst>
          </p:cNvPr>
          <p:cNvSpPr txBox="1"/>
          <p:nvPr/>
        </p:nvSpPr>
        <p:spPr>
          <a:xfrm>
            <a:off x="636494" y="3242494"/>
            <a:ext cx="5396753" cy="48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Syntax Analysis</a:t>
            </a:r>
          </a:p>
          <a:p>
            <a:pPr>
              <a:lnSpc>
                <a:spcPts val="1500"/>
              </a:lnSpc>
            </a:pPr>
            <a:r>
              <a:rPr lang="en-US" dirty="0"/>
              <a:t>Parses tokens into grammatical structure (AST).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828304-98E1-48AE-98D1-791B4AD63625}"/>
              </a:ext>
            </a:extLst>
          </p:cNvPr>
          <p:cNvSpPr/>
          <p:nvPr/>
        </p:nvSpPr>
        <p:spPr>
          <a:xfrm>
            <a:off x="376519" y="4086873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D6266E-CC0F-46DB-9BFE-0326637C0698}"/>
              </a:ext>
            </a:extLst>
          </p:cNvPr>
          <p:cNvSpPr txBox="1"/>
          <p:nvPr/>
        </p:nvSpPr>
        <p:spPr>
          <a:xfrm>
            <a:off x="636494" y="4278723"/>
            <a:ext cx="5396753" cy="48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Semantic Analysis</a:t>
            </a:r>
          </a:p>
          <a:p>
            <a:pPr>
              <a:lnSpc>
                <a:spcPts val="1500"/>
              </a:lnSpc>
            </a:pPr>
            <a:r>
              <a:rPr lang="en-US" dirty="0"/>
              <a:t>Checks types, scopes, and symbol consistency.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BBDF9D6-9B7B-4540-8975-FD2757316770}"/>
              </a:ext>
            </a:extLst>
          </p:cNvPr>
          <p:cNvSpPr/>
          <p:nvPr/>
        </p:nvSpPr>
        <p:spPr>
          <a:xfrm>
            <a:off x="376519" y="5204732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8AD386-AC71-401A-B632-9943AC88190B}"/>
              </a:ext>
            </a:extLst>
          </p:cNvPr>
          <p:cNvSpPr txBox="1"/>
          <p:nvPr/>
        </p:nvSpPr>
        <p:spPr>
          <a:xfrm>
            <a:off x="636494" y="5396582"/>
            <a:ext cx="5396753" cy="483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Code Generation</a:t>
            </a:r>
          </a:p>
          <a:p>
            <a:pPr>
              <a:lnSpc>
                <a:spcPts val="1500"/>
              </a:lnSpc>
            </a:pPr>
            <a:r>
              <a:rPr lang="en-US" sz="1600" dirty="0"/>
              <a:t>Produces intermediate code (TAC) for later optimization.</a:t>
            </a:r>
          </a:p>
        </p:txBody>
      </p:sp>
    </p:spTree>
    <p:extLst>
      <p:ext uri="{BB962C8B-B14F-4D97-AF65-F5344CB8AC3E}">
        <p14:creationId xmlns:p14="http://schemas.microsoft.com/office/powerpoint/2010/main" val="4003773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28EF262-A017-478A-BB44-FC090FD39B2F}"/>
              </a:ext>
            </a:extLst>
          </p:cNvPr>
          <p:cNvSpPr/>
          <p:nvPr/>
        </p:nvSpPr>
        <p:spPr>
          <a:xfrm>
            <a:off x="3169024" y="341635"/>
            <a:ext cx="5853952" cy="110168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44A7B9-836D-4D97-AA38-392301864045}"/>
              </a:ext>
            </a:extLst>
          </p:cNvPr>
          <p:cNvSpPr txBox="1"/>
          <p:nvPr/>
        </p:nvSpPr>
        <p:spPr>
          <a:xfrm>
            <a:off x="3599329" y="600089"/>
            <a:ext cx="49933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Problem Statement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86BEAA4-FE20-4F0A-B6ED-CDD8398C80BD}"/>
              </a:ext>
            </a:extLst>
          </p:cNvPr>
          <p:cNvSpPr/>
          <p:nvPr/>
        </p:nvSpPr>
        <p:spPr>
          <a:xfrm>
            <a:off x="308198" y="1888707"/>
            <a:ext cx="7570694" cy="218274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98C2FA-1790-4695-BF77-E3594E3DF256}"/>
              </a:ext>
            </a:extLst>
          </p:cNvPr>
          <p:cNvSpPr txBox="1"/>
          <p:nvPr/>
        </p:nvSpPr>
        <p:spPr>
          <a:xfrm>
            <a:off x="590585" y="2174602"/>
            <a:ext cx="71336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 Statement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Understanding compiler design only through theory is difficult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Existing compilers are complex for beginners to analyze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Error detection and code translation processes are hard to visualize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Need for a simplified compiler to demonstrate complete compilation flow</a:t>
            </a:r>
          </a:p>
          <a:p>
            <a:endParaRPr lang="en-US" dirty="0"/>
          </a:p>
        </p:txBody>
      </p:sp>
      <p:pic>
        <p:nvPicPr>
          <p:cNvPr id="11" name="Image 0">
            <a:extLst>
              <a:ext uri="{FF2B5EF4-FFF2-40B4-BE49-F238E27FC236}">
                <a16:creationId xmlns:a16="http://schemas.microsoft.com/office/drawing/2014/main" id="{CAE8CFF4-9829-4418-919D-2413DC7CE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8892" y="3988497"/>
            <a:ext cx="4004910" cy="2269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370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E559E1D-88FB-4CA5-950E-5A6C332F02FF}"/>
              </a:ext>
            </a:extLst>
          </p:cNvPr>
          <p:cNvSpPr/>
          <p:nvPr/>
        </p:nvSpPr>
        <p:spPr>
          <a:xfrm>
            <a:off x="3169024" y="341635"/>
            <a:ext cx="5853952" cy="110168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D7266-1819-4285-9B72-BF43064A41C9}"/>
              </a:ext>
            </a:extLst>
          </p:cNvPr>
          <p:cNvSpPr txBox="1"/>
          <p:nvPr/>
        </p:nvSpPr>
        <p:spPr>
          <a:xfrm>
            <a:off x="3599329" y="600089"/>
            <a:ext cx="49933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Scope Statement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6739EC-6483-4B5A-9C67-49DD4E56455F}"/>
              </a:ext>
            </a:extLst>
          </p:cNvPr>
          <p:cNvSpPr/>
          <p:nvPr/>
        </p:nvSpPr>
        <p:spPr>
          <a:xfrm>
            <a:off x="560293" y="1776294"/>
            <a:ext cx="8368556" cy="3512882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7B2E8B-D41D-4FCC-A9E2-7670A4BA6C0F}"/>
              </a:ext>
            </a:extLst>
          </p:cNvPr>
          <p:cNvSpPr txBox="1"/>
          <p:nvPr/>
        </p:nvSpPr>
        <p:spPr>
          <a:xfrm>
            <a:off x="770963" y="1927718"/>
            <a:ext cx="805927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Scope Statement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Design and develop a mini compiler using C, Flex, and Bison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Perform lexical analysis and token generation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Implement syntax and semantic analysis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Create and manage symbol tables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Generate Abstract Syntax Tree (AST)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Produce Three-Address Code (TAC)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Apply code optimization techniques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Generate ARM assembly target code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Detect syntax and semantic errors with line numbers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 basic programming constructs (variables, loops, conditions, expressions)</a:t>
            </a:r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A61796F5-80AB-4D36-9B7A-9FA88216A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904" y="4889372"/>
            <a:ext cx="2962166" cy="16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331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>
            <a:extLst>
              <a:ext uri="{FF2B5EF4-FFF2-40B4-BE49-F238E27FC236}">
                <a16:creationId xmlns:a16="http://schemas.microsoft.com/office/drawing/2014/main" id="{EE27910A-262C-4E81-B5CE-79CB00D47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482" y="1939006"/>
            <a:ext cx="5258885" cy="2979988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849E64A8-6E3E-4F67-AA34-B1869309F140}"/>
              </a:ext>
            </a:extLst>
          </p:cNvPr>
          <p:cNvSpPr/>
          <p:nvPr/>
        </p:nvSpPr>
        <p:spPr>
          <a:xfrm>
            <a:off x="1873542" y="1498996"/>
            <a:ext cx="2350083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3450"/>
              </a:lnSpc>
              <a:buNone/>
            </a:pPr>
            <a:r>
              <a:rPr lang="en-US" dirty="0"/>
              <a:t>Project Objectives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036669-35B4-4261-9908-89B56BD10463}"/>
              </a:ext>
            </a:extLst>
          </p:cNvPr>
          <p:cNvSpPr/>
          <p:nvPr/>
        </p:nvSpPr>
        <p:spPr>
          <a:xfrm>
            <a:off x="775786" y="2681404"/>
            <a:ext cx="2953532" cy="334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700"/>
              </a:lnSpc>
              <a:buNone/>
            </a:pPr>
            <a:r>
              <a:rPr lang="en-US" sz="2000" b="1" dirty="0"/>
              <a:t>Understand Compiler Design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92A1ADA-39F5-4E44-A5CE-C9C2E80760E7}"/>
              </a:ext>
            </a:extLst>
          </p:cNvPr>
          <p:cNvSpPr/>
          <p:nvPr/>
        </p:nvSpPr>
        <p:spPr>
          <a:xfrm>
            <a:off x="775786" y="2920311"/>
            <a:ext cx="5320214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0"/>
              </a:lnSpc>
              <a:buNone/>
            </a:pPr>
            <a:r>
              <a:rPr lang="en-US" dirty="0"/>
              <a:t>Implement lexical analysis, parsing, symbol table, AST, TAC, and error detection.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DDDD50FE-AD61-448E-9E4D-E88A3CBB49D3}"/>
              </a:ext>
            </a:extLst>
          </p:cNvPr>
          <p:cNvSpPr/>
          <p:nvPr/>
        </p:nvSpPr>
        <p:spPr>
          <a:xfrm>
            <a:off x="775786" y="3839949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700"/>
              </a:lnSpc>
              <a:buNone/>
            </a:pPr>
            <a:r>
              <a:rPr lang="en-US" sz="2000" b="1" dirty="0"/>
              <a:t>Error Detection</a:t>
            </a: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DF3DD26E-9F92-4F61-96FB-D501135B3A80}"/>
              </a:ext>
            </a:extLst>
          </p:cNvPr>
          <p:cNvSpPr/>
          <p:nvPr/>
        </p:nvSpPr>
        <p:spPr>
          <a:xfrm>
            <a:off x="775785" y="4172945"/>
            <a:ext cx="514988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0"/>
              </a:lnSpc>
              <a:buNone/>
            </a:pPr>
            <a:r>
              <a:rPr lang="en-US" dirty="0"/>
              <a:t>Detect syntax and semantic errors with line numbers and warnings.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7330FEF-878C-4ACB-BD04-7C54F27B846E}"/>
              </a:ext>
            </a:extLst>
          </p:cNvPr>
          <p:cNvSpPr/>
          <p:nvPr/>
        </p:nvSpPr>
        <p:spPr>
          <a:xfrm>
            <a:off x="361961" y="2475235"/>
            <a:ext cx="5853952" cy="110168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2A1EA2-497D-45C9-80C9-12ECBC3D661D}"/>
              </a:ext>
            </a:extLst>
          </p:cNvPr>
          <p:cNvSpPr/>
          <p:nvPr/>
        </p:nvSpPr>
        <p:spPr>
          <a:xfrm>
            <a:off x="361961" y="3694188"/>
            <a:ext cx="5853952" cy="110168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425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5FD4E2-3E2D-4612-A3CC-58D1592D3C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47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C5BB5E-74F7-4C05-8058-BA52C3C8B186}"/>
              </a:ext>
            </a:extLst>
          </p:cNvPr>
          <p:cNvSpPr/>
          <p:nvPr/>
        </p:nvSpPr>
        <p:spPr>
          <a:xfrm>
            <a:off x="2845185" y="386459"/>
            <a:ext cx="5853952" cy="958247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98412-3699-4614-B731-37E6EC09C6A8}"/>
              </a:ext>
            </a:extLst>
          </p:cNvPr>
          <p:cNvSpPr txBox="1"/>
          <p:nvPr/>
        </p:nvSpPr>
        <p:spPr>
          <a:xfrm>
            <a:off x="3091714" y="680916"/>
            <a:ext cx="5360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Technology &amp; Project file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12B845-AF9A-43CC-A239-98EA909F4F8A}"/>
              </a:ext>
            </a:extLst>
          </p:cNvPr>
          <p:cNvSpPr/>
          <p:nvPr/>
        </p:nvSpPr>
        <p:spPr>
          <a:xfrm>
            <a:off x="367553" y="2170433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30532B3-9917-4056-ACC3-879CD3E516A0}"/>
              </a:ext>
            </a:extLst>
          </p:cNvPr>
          <p:cNvSpPr/>
          <p:nvPr/>
        </p:nvSpPr>
        <p:spPr>
          <a:xfrm>
            <a:off x="4349569" y="2170434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181485-6FE4-4BCF-996F-96BA407925DD}"/>
              </a:ext>
            </a:extLst>
          </p:cNvPr>
          <p:cNvSpPr/>
          <p:nvPr/>
        </p:nvSpPr>
        <p:spPr>
          <a:xfrm>
            <a:off x="8331585" y="2170435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C4428E-7A0F-4F1D-85D1-4ED63563EAB5}"/>
              </a:ext>
            </a:extLst>
          </p:cNvPr>
          <p:cNvSpPr txBox="1"/>
          <p:nvPr/>
        </p:nvSpPr>
        <p:spPr>
          <a:xfrm>
            <a:off x="502024" y="2339788"/>
            <a:ext cx="31824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Tools</a:t>
            </a:r>
          </a:p>
          <a:p>
            <a:pPr marL="342900" indent="-342900">
              <a:buAutoNum type="arabicPeriod"/>
            </a:pPr>
            <a:r>
              <a:rPr lang="en-US" dirty="0"/>
              <a:t>Flex</a:t>
            </a:r>
          </a:p>
          <a:p>
            <a:pPr marL="342900" indent="-342900">
              <a:buAutoNum type="arabicPeriod"/>
            </a:pPr>
            <a:r>
              <a:rPr lang="en-US" dirty="0"/>
              <a:t>Bison</a:t>
            </a:r>
          </a:p>
          <a:p>
            <a:pPr marL="342900" indent="-342900">
              <a:buAutoNum type="arabicPeriod"/>
            </a:pPr>
            <a:r>
              <a:rPr lang="en-US" dirty="0"/>
              <a:t>GCC </a:t>
            </a:r>
          </a:p>
          <a:p>
            <a:pPr marL="342900" indent="-342900">
              <a:buAutoNum type="arabicPeriod"/>
            </a:pPr>
            <a:r>
              <a:rPr lang="en-US" dirty="0"/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695488-9F15-4F44-87B4-5759C9F40F68}"/>
              </a:ext>
            </a:extLst>
          </p:cNvPr>
          <p:cNvSpPr txBox="1"/>
          <p:nvPr/>
        </p:nvSpPr>
        <p:spPr>
          <a:xfrm>
            <a:off x="4504765" y="2339788"/>
            <a:ext cx="31824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Files</a:t>
            </a:r>
          </a:p>
          <a:p>
            <a:pPr marL="342900" indent="-342900">
              <a:buAutoNum type="arabicPeriod"/>
            </a:pPr>
            <a:r>
              <a:rPr lang="en-US" dirty="0" err="1"/>
              <a:t>Lexer.l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Parser.y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Compiler.h</a:t>
            </a:r>
            <a:r>
              <a:rPr lang="en-US" dirty="0"/>
              <a:t> </a:t>
            </a:r>
          </a:p>
          <a:p>
            <a:pPr marL="342900" indent="-342900">
              <a:buAutoNum type="arabicPeriod"/>
            </a:pPr>
            <a:r>
              <a:rPr lang="en-US" dirty="0" err="1"/>
              <a:t>Main.c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Test.c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DA93BF-2890-46D6-9020-EDFDCE4CAFEC}"/>
              </a:ext>
            </a:extLst>
          </p:cNvPr>
          <p:cNvSpPr txBox="1"/>
          <p:nvPr/>
        </p:nvSpPr>
        <p:spPr>
          <a:xfrm>
            <a:off x="8452608" y="2339788"/>
            <a:ext cx="318247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16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Commands to compile and run</a:t>
            </a: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bison -d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parser.y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flex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lexer.l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gcc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-w -o compiler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lex.yy.c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parser.tab.c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main.c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./compiler</a:t>
            </a:r>
          </a:p>
        </p:txBody>
      </p:sp>
    </p:spTree>
    <p:extLst>
      <p:ext uri="{BB962C8B-B14F-4D97-AF65-F5344CB8AC3E}">
        <p14:creationId xmlns:p14="http://schemas.microsoft.com/office/powerpoint/2010/main" val="1400878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849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1 - Lexical Analysis (Tokenization)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Token structure to recognize keywords (int, float, if, else, while, return), operators (+, -, </a:t>
            </a:r>
            <a:r>
              <a:rPr lang="en-US" sz="1400" b="0" i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/, =, &lt;, &gt;, &lt;=, &gt;=, ==, !=), identifiers, numbers, and comments (single-line // and multi-line /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*/)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C21F64-D0F2-48EF-ABF4-7105BF646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721" y="824753"/>
            <a:ext cx="3940372" cy="574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039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926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2 - </a:t>
            </a:r>
            <a:r>
              <a:rPr lang="en" sz="3200" dirty="0">
                <a:latin typeface="Lato"/>
                <a:ea typeface="Lato"/>
                <a:cs typeface="Lato"/>
                <a:sym typeface="Lato"/>
              </a:rPr>
              <a:t>Symbol Table Creation </a:t>
            </a: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Symbol table (hash table or array) for variable tracking, type information struct, scope management stack for checking variable declarations, type compatibility, and semantic errors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29A99-1599-4971-9E6B-838B6489C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271" y="1643452"/>
            <a:ext cx="5414948" cy="357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102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3174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3 -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Semantic/Syntax Analysis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Symbol table (array-based) storing variable names, types, line numbers, and function flags; duplicate error tracking array to prevent repeated error messages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Semantic, syntax Checks Performed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EEA2A8-E6E1-4200-97D9-1678424B0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897" y="995082"/>
            <a:ext cx="3572020" cy="5414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51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6786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4 -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Abstract Syntax Tree (AST) Generation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AST node structure with node type, children pointers, expression trees for arithmetic operations, statement nodes for assignments and control flow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8AE024-B2AD-46F6-A205-58AD7E0BE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910" y="815788"/>
            <a:ext cx="4021994" cy="588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952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926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5 -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Intermediate Code Generation (TAC)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Quadruple structure (op, arg1, arg2, result) for Three-Address Code, temporary variable counter, label generator for control flow (if-else, while loops), backpatching stack for label resolution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4ED3AC-0B05-4EF6-838A-9545BD81B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94" y="766498"/>
            <a:ext cx="4539352" cy="5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04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3994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6 -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Code Optimization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Variable information table for constant tracking, optimization flags (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is_const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is_used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is_dead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), TAC instruction array with dead code markers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Optimization Techniques Implemented: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Constant Propagation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Constant Folding (multi-pass)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Dead Code Elimination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Unreachable Code Elimination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58D7E5-5E5E-436C-B39F-63EE4A0D5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3591" y="977153"/>
            <a:ext cx="3834631" cy="5593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797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4159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7 -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Target Code Generation (ARM Assembly)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Register allocation table mapping variables to ARM registers (R0-R15), instruction templates for ARM assembly, label tracking for control flow translation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Target Architecture: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ARM (32-bit)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Assembly Instructions Generated: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MOV, ADD, SUB, MUL, SDIV, CMP, B (branch), conditional moves (MOVGE, MOVLT, etc.), SWI (system call)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0A24CF-C5BC-4511-A6E3-6257B9EEF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897" y="1048870"/>
            <a:ext cx="2524020" cy="524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363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45780B4-6C67-4D9F-BADC-F49FB6145DAD}"/>
              </a:ext>
            </a:extLst>
          </p:cNvPr>
          <p:cNvSpPr/>
          <p:nvPr/>
        </p:nvSpPr>
        <p:spPr>
          <a:xfrm>
            <a:off x="3060337" y="538860"/>
            <a:ext cx="5853952" cy="958247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B7BEC-4786-4761-87F6-917C9AA21D20}"/>
              </a:ext>
            </a:extLst>
          </p:cNvPr>
          <p:cNvSpPr txBox="1"/>
          <p:nvPr/>
        </p:nvSpPr>
        <p:spPr>
          <a:xfrm>
            <a:off x="5095880" y="833317"/>
            <a:ext cx="2000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Project Limitations</a:t>
            </a:r>
            <a:endParaRPr lang="en-US" dirty="0">
              <a:effectLst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3024F3-BC73-4F5E-A874-FD0D8765B22F}"/>
              </a:ext>
            </a:extLst>
          </p:cNvPr>
          <p:cNvSpPr/>
          <p:nvPr/>
        </p:nvSpPr>
        <p:spPr>
          <a:xfrm>
            <a:off x="560293" y="1776294"/>
            <a:ext cx="8368556" cy="3512882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3BB844-A8B2-4DC5-AA85-70647A63D02C}"/>
              </a:ext>
            </a:extLst>
          </p:cNvPr>
          <p:cNvSpPr txBox="1"/>
          <p:nvPr/>
        </p:nvSpPr>
        <p:spPr>
          <a:xfrm>
            <a:off x="905435" y="1999129"/>
            <a:ext cx="763793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only a simplified programming language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data type support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Does not support advanced Object-Oriented Programming features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optimization techniques implemented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Error recovery mechanism is basic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only ARM 32-bit target code generation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graphical user interface (GUI)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Handles only small to medium-sized programs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Does not include advanced compiler optimizations used in modern compilers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Multi-file program compilation is not supported</a:t>
            </a:r>
          </a:p>
        </p:txBody>
      </p:sp>
      <p:pic>
        <p:nvPicPr>
          <p:cNvPr id="12" name="Image 0">
            <a:extLst>
              <a:ext uri="{FF2B5EF4-FFF2-40B4-BE49-F238E27FC236}">
                <a16:creationId xmlns:a16="http://schemas.microsoft.com/office/drawing/2014/main" id="{5A001681-03C5-47D5-9E06-A37107BE2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904" y="4889372"/>
            <a:ext cx="2962166" cy="16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929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AA4999-C6E2-4029-9BAA-2782697F6FE8}"/>
              </a:ext>
            </a:extLst>
          </p:cNvPr>
          <p:cNvSpPr/>
          <p:nvPr/>
        </p:nvSpPr>
        <p:spPr>
          <a:xfrm>
            <a:off x="2292168" y="1210723"/>
            <a:ext cx="7607662" cy="4436552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E6E37C-4BE1-417B-B892-5796519D9518}"/>
              </a:ext>
            </a:extLst>
          </p:cNvPr>
          <p:cNvSpPr txBox="1"/>
          <p:nvPr/>
        </p:nvSpPr>
        <p:spPr>
          <a:xfrm>
            <a:off x="3827374" y="2151727"/>
            <a:ext cx="45372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i="0" dirty="0">
                <a:solidFill>
                  <a:srgbClr val="1A1A1A"/>
                </a:solidFill>
                <a:effectLst/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THANK YOU</a:t>
            </a:r>
            <a:endParaRPr lang="en-US" sz="8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41389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890</Words>
  <Application>Microsoft Office PowerPoint</Application>
  <PresentationFormat>Widescreen</PresentationFormat>
  <Paragraphs>97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abdullah musabbir</dc:creator>
  <cp:lastModifiedBy>abdullah musabbir</cp:lastModifiedBy>
  <cp:revision>8</cp:revision>
  <dcterms:created xsi:type="dcterms:W3CDTF">2026-05-15T06:01:19Z</dcterms:created>
  <dcterms:modified xsi:type="dcterms:W3CDTF">2026-05-18T08:41:52Z</dcterms:modified>
</cp:coreProperties>
</file>